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0" r:id="rId5"/>
    <p:sldId id="300" r:id="rId6"/>
    <p:sldId id="312" r:id="rId7"/>
    <p:sldId id="301" r:id="rId8"/>
    <p:sldId id="302" r:id="rId9"/>
    <p:sldId id="311" r:id="rId10"/>
    <p:sldId id="304" r:id="rId11"/>
    <p:sldId id="309" r:id="rId12"/>
    <p:sldId id="306" r:id="rId13"/>
    <p:sldId id="310" r:id="rId14"/>
    <p:sldId id="307" r:id="rId15"/>
    <p:sldId id="293" r:id="rId1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0003"/>
    <a:srgbClr val="ACA39A"/>
    <a:srgbClr val="F1BE48"/>
    <a:srgbClr val="6E6259"/>
    <a:srgbClr val="010000"/>
    <a:srgbClr val="C8102E"/>
    <a:srgbClr val="7A6E67"/>
    <a:srgbClr val="F2BF49"/>
    <a:srgbClr val="ADA07A"/>
    <a:srgbClr val="CE1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5A70AB-3284-48B0-A8EB-1834E61D4773}" v="108" dt="2026-03-29T13:18:57.373"/>
    <p1510:client id="{AFD71B34-0168-4A57-88C3-3A1617EAD61B}" v="2" dt="2026-03-30T01:31:58.069"/>
    <p1510:client id="{EF71DF3E-ACDF-4650-846D-99B73CF9D2FC}" v="152" dt="2026-03-28T02:49:59.607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50" autoAdjust="0"/>
    <p:restoredTop sz="94291" autoAdjust="0"/>
  </p:normalViewPr>
  <p:slideViewPr>
    <p:cSldViewPr>
      <p:cViewPr varScale="1">
        <p:scale>
          <a:sx n="69" d="100"/>
          <a:sy n="69" d="100"/>
        </p:scale>
        <p:origin x="738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5A0C9-E830-1241-BEA3-6925DA004ECF}" type="datetimeFigureOut">
              <a:rPr lang="en-US" smtClean="0"/>
              <a:pPr/>
              <a:t>30-Mar-26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84522-76EF-EF4D-8870-07F3436BA4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024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082-6AF3-024B-A14D-C5AD8123919E}" type="datetimeFigureOut">
              <a:rPr lang="en-US" smtClean="0"/>
              <a:pPr/>
              <a:t>30-Mar-26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6D18E-8B09-B24B-9169-4FC527B8D8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7925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564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b="1" dirty="0"/>
              <a:t>Decision Tree (DT):</a:t>
            </a:r>
            <a:r>
              <a:rPr lang="en-US" dirty="0"/>
              <a:t> Splits data based on feature thresholds to capture nonlinear relationships</a:t>
            </a:r>
          </a:p>
          <a:p>
            <a:pPr marL="228600"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b="1" dirty="0"/>
              <a:t>K-Nearest Neighbors (KNN):</a:t>
            </a:r>
            <a:r>
              <a:rPr lang="en-US" dirty="0"/>
              <a:t> Instance-based method that predicts values based on similarity to the nearest data points</a:t>
            </a:r>
          </a:p>
          <a:p>
            <a:pPr marL="228600"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b="1" dirty="0"/>
              <a:t>Random Forest (RF):</a:t>
            </a:r>
            <a:r>
              <a:rPr lang="en-US" dirty="0"/>
              <a:t> Effective for capturing non-linear relationships and providing feature importance.</a:t>
            </a:r>
          </a:p>
          <a:p>
            <a:pPr marL="228600"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b="1" dirty="0"/>
              <a:t>Support Vector Machines (SVM):</a:t>
            </a:r>
            <a:r>
              <a:rPr lang="en-US" dirty="0"/>
              <a:t> High performance in high-dimensional spaces.</a:t>
            </a:r>
          </a:p>
          <a:p>
            <a:pPr marL="228600"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b="1" dirty="0" err="1"/>
              <a:t>XGBoost</a:t>
            </a:r>
            <a:r>
              <a:rPr lang="en-US" b="1" dirty="0"/>
              <a:t> / </a:t>
            </a:r>
            <a:r>
              <a:rPr lang="en-US" b="1" dirty="0" err="1"/>
              <a:t>LightGBM</a:t>
            </a:r>
            <a:r>
              <a:rPr lang="en-US" b="1" dirty="0"/>
              <a:t>:</a:t>
            </a:r>
            <a:r>
              <a:rPr lang="en-US" dirty="0"/>
              <a:t> Gradient boosting frameworks for high accuracy and speed.</a:t>
            </a:r>
          </a:p>
          <a:p>
            <a:pPr marL="228600" indent="-2286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,Sans-Serif"/>
              <a:buChar char="•"/>
            </a:pPr>
            <a:r>
              <a:rPr lang="en-US" b="1" dirty="0"/>
              <a:t>Artificial Neural Networks (ANN):</a:t>
            </a:r>
            <a:r>
              <a:rPr lang="en-US" dirty="0"/>
              <a:t> To model complex, deep-seated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6D18E-8B09-B24B-9169-4FC527B8D8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21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04807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283635" y="3489325"/>
            <a:ext cx="24553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auto">
          <a:xfrm>
            <a:off x="0" y="6348434"/>
            <a:ext cx="12192000" cy="509569"/>
          </a:xfrm>
          <a:prstGeom prst="rect">
            <a:avLst/>
          </a:prstGeom>
          <a:solidFill>
            <a:srgbClr val="C8102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sz="1800"/>
          </a:p>
        </p:txBody>
      </p:sp>
      <p:pic>
        <p:nvPicPr>
          <p:cNvPr id="13" name="Picture 12" descr="ISU LEFT white.eps"/>
          <p:cNvPicPr>
            <a:picLocks noChangeAspect="1"/>
          </p:cNvPicPr>
          <p:nvPr userDrawn="1"/>
        </p:nvPicPr>
        <p:blipFill>
          <a:blip r:embed="rId4"/>
          <a:srcRect b="38235"/>
          <a:stretch>
            <a:fillRect/>
          </a:stretch>
        </p:blipFill>
        <p:spPr bwMode="auto">
          <a:xfrm>
            <a:off x="508000" y="6503218"/>
            <a:ext cx="3195320" cy="197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 Placeholder 4"/>
          <p:cNvSpPr txBox="1">
            <a:spLocks/>
          </p:cNvSpPr>
          <p:nvPr userDrawn="1"/>
        </p:nvSpPr>
        <p:spPr>
          <a:xfrm>
            <a:off x="5551607" y="6470650"/>
            <a:ext cx="5588000" cy="285750"/>
          </a:xfrm>
          <a:prstGeom prst="rect">
            <a:avLst/>
          </a:prstGeom>
        </p:spPr>
        <p:txBody>
          <a:bodyPr/>
          <a:lstStyle>
            <a:lvl1pPr marL="0" indent="0" algn="r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None/>
              <a:defRPr sz="1600" b="1" i="0" baseline="0">
                <a:solidFill>
                  <a:schemeClr val="bg1"/>
                </a:solidFill>
                <a:latin typeface="Univers 65" charset="0"/>
                <a:ea typeface="Univers 65" charset="0"/>
                <a:cs typeface="Univers 65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6E6259"/>
                </a:solidFill>
                <a:latin typeface="+mn-lt"/>
                <a:ea typeface="Geneva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E1126"/>
              </a:buClr>
              <a:buSzPct val="80000"/>
              <a:buFont typeface="Times" charset="0"/>
              <a:buChar char="•"/>
              <a:defRPr sz="2600">
                <a:solidFill>
                  <a:srgbClr val="7A6E67"/>
                </a:solidFill>
                <a:latin typeface="+mn-lt"/>
                <a:ea typeface="Geneva" charset="-128"/>
              </a:defRPr>
            </a:lvl9pPr>
          </a:lstStyle>
          <a:p>
            <a:pPr eaLnBrk="1" hangingPunct="1"/>
            <a:r>
              <a:rPr lang="en-US" sz="900" kern="0" dirty="0">
                <a:latin typeface="Univers 75 Black" charset="0"/>
                <a:ea typeface="Univers 75 Black" charset="0"/>
                <a:cs typeface="Univers 75 Black" charset="0"/>
              </a:rPr>
              <a:t>Department of Materials Science and Engineering</a:t>
            </a:r>
          </a:p>
        </p:txBody>
      </p:sp>
      <p:cxnSp>
        <p:nvCxnSpPr>
          <p:cNvPr id="16" name="Straight Connector 15"/>
          <p:cNvCxnSpPr/>
          <p:nvPr userDrawn="1"/>
        </p:nvCxnSpPr>
        <p:spPr bwMode="auto">
          <a:xfrm>
            <a:off x="11277600" y="6531769"/>
            <a:ext cx="0" cy="1524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1379200" y="6470653"/>
            <a:ext cx="711200" cy="27463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/>
            <a:fld id="{60FAC648-EA3A-9C41-B47D-FEC33027B8CE}" type="slidenum">
              <a:rPr lang="en-US" sz="900" smtClean="0">
                <a:solidFill>
                  <a:schemeClr val="bg1"/>
                </a:solidFill>
              </a:rPr>
              <a:pPr algn="l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4" r:id="rId2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8102E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500">
          <a:solidFill>
            <a:srgbClr val="CE1126"/>
          </a:solidFill>
          <a:latin typeface="Univers 67 CondensedBold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6E6259"/>
          </a:solidFill>
          <a:latin typeface="+mn-lt"/>
          <a:ea typeface="Geneva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CE1126"/>
        </a:buClr>
        <a:buSzPct val="80000"/>
        <a:buFont typeface="Times" charset="0"/>
        <a:buChar char="•"/>
        <a:defRPr sz="2600">
          <a:solidFill>
            <a:srgbClr val="7A6E67"/>
          </a:solidFill>
          <a:latin typeface="+mn-lt"/>
          <a:ea typeface="Geneva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2" t="52" r="5538" b="30673"/>
          <a:stretch>
            <a:fillRect/>
          </a:stretch>
        </p:blipFill>
        <p:spPr>
          <a:xfrm>
            <a:off x="0" y="-610"/>
            <a:ext cx="12210484" cy="637120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0" y="-5391"/>
            <a:ext cx="12206376" cy="6375099"/>
          </a:xfrm>
          <a:prstGeom prst="rect">
            <a:avLst/>
          </a:prstGeom>
          <a:solidFill>
            <a:srgbClr val="C8102E">
              <a:alpha val="9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858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rgbClr val="C8102E"/>
              </a:solidFill>
              <a:effectLst/>
              <a:latin typeface="Times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933" y="643386"/>
            <a:ext cx="11790790" cy="2531462"/>
          </a:xfrm>
          <a:prstGeom prst="rect">
            <a:avLst/>
          </a:prstGeom>
          <a:noFill/>
        </p:spPr>
        <p:txBody>
          <a:bodyPr wrap="square" lIns="68580" tIns="34290" rIns="68580" bIns="34290" rtlCol="0" anchor="b" anchorCtr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"/>
                <a:cs typeface="Times"/>
              </a:rPr>
              <a:t>Reveal the Main Factors and Adsorption Behavior Influencing the Adsorption of Pollutants on Natural Mineral Adsorbents: Based on Machine Learning Modeling and DFT Calculation 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5100" y="4102909"/>
            <a:ext cx="6867344" cy="80791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fontAlgn="b"/>
            <a:r>
              <a:rPr lang="en-US" b="1" dirty="0">
                <a:solidFill>
                  <a:schemeClr val="bg1"/>
                </a:solidFill>
                <a:latin typeface="Times New Roman"/>
                <a:ea typeface="ITC Berkeley Oldstyle Book" charset="0"/>
                <a:cs typeface="Times New Roman"/>
              </a:rPr>
              <a:t>Mohammad Tanvir Ahmed</a:t>
            </a:r>
          </a:p>
          <a:p>
            <a:r>
              <a:rPr lang="en-US" i="1" dirty="0">
                <a:solidFill>
                  <a:schemeClr val="bg1"/>
                </a:solidFill>
                <a:latin typeface="Times New Roman"/>
                <a:cs typeface="Times New Roman"/>
              </a:rPr>
              <a:t>Department of Materials Science and Engineering</a:t>
            </a:r>
          </a:p>
        </p:txBody>
      </p:sp>
      <p:cxnSp>
        <p:nvCxnSpPr>
          <p:cNvPr id="10" name="Straight Connector 9"/>
          <p:cNvCxnSpPr/>
          <p:nvPr/>
        </p:nvCxnSpPr>
        <p:spPr bwMode="auto">
          <a:xfrm>
            <a:off x="1210214" y="4086225"/>
            <a:ext cx="685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1BE48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59300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D715B1-C5B5-5B73-A02A-DFC85ADA14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" r="-162" b="18470"/>
          <a:stretch>
            <a:fillRect/>
          </a:stretch>
        </p:blipFill>
        <p:spPr>
          <a:xfrm>
            <a:off x="1651778" y="282416"/>
            <a:ext cx="8881275" cy="598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93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DB56D-8087-1EA8-5180-0225E98AC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C0A41E45-FE36-BEA1-79E8-20D08AB4AE84}"/>
              </a:ext>
            </a:extLst>
          </p:cNvPr>
          <p:cNvSpPr txBox="1"/>
          <p:nvPr/>
        </p:nvSpPr>
        <p:spPr>
          <a:xfrm>
            <a:off x="450281" y="1155762"/>
            <a:ext cx="4687017" cy="4630563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Montmorillonite (MMN) is widely used for pollutant removal due to its layered structure and abundant adsorption sites.</a:t>
            </a:r>
            <a:endParaRPr lang="en-US" dirty="0"/>
          </a:p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Adsorption performance varies strongly with pollutant type and environmental conditions.</a:t>
            </a:r>
          </a:p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Traditional experimental + DFT approaches are time‑consuming and costly.</a:t>
            </a:r>
          </a:p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ML enables pattern discovery, feature importance, and rapid prediction.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17F59DB-3A12-0F4C-479F-D8827BA5DF80}"/>
              </a:ext>
            </a:extLst>
          </p:cNvPr>
          <p:cNvSpPr txBox="1"/>
          <p:nvPr/>
        </p:nvSpPr>
        <p:spPr>
          <a:xfrm>
            <a:off x="522170" y="5970065"/>
            <a:ext cx="6150769" cy="484748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dirty="0">
                <a:solidFill>
                  <a:srgbClr val="222222"/>
                </a:solidFill>
                <a:latin typeface="Times New Roman"/>
                <a:ea typeface="Arial"/>
                <a:cs typeface="Times New Roman"/>
              </a:rPr>
              <a:t>Zhao, C., et al. </a:t>
            </a:r>
            <a:r>
              <a:rPr lang="en-US" sz="1350" i="1" dirty="0">
                <a:solidFill>
                  <a:srgbClr val="222222"/>
                </a:solidFill>
                <a:latin typeface="Times New Roman"/>
                <a:ea typeface="Arial"/>
                <a:cs typeface="Times New Roman"/>
              </a:rPr>
              <a:t>Separation and Purification Technology</a:t>
            </a:r>
            <a:r>
              <a:rPr lang="en-US" sz="1350" dirty="0">
                <a:solidFill>
                  <a:srgbClr val="222222"/>
                </a:solidFill>
                <a:latin typeface="Times New Roman"/>
                <a:ea typeface="Arial"/>
                <a:cs typeface="Times New Roman"/>
              </a:rPr>
              <a:t> 331 (2024): 125706.</a:t>
            </a:r>
            <a:endParaRPr lang="en-US" sz="1350">
              <a:latin typeface="Times New Roman"/>
              <a:cs typeface="Times New Roman"/>
            </a:endParaRPr>
          </a:p>
          <a:p>
            <a:pPr algn="ctr"/>
            <a:endParaRPr lang="en-US" sz="1350" dirty="0">
              <a:latin typeface="Times New Roman"/>
              <a:cs typeface="Times New Roman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ED92639-CA42-5A8D-F071-F25F737B3C6A}"/>
              </a:ext>
            </a:extLst>
          </p:cNvPr>
          <p:cNvSpPr txBox="1"/>
          <p:nvPr/>
        </p:nvSpPr>
        <p:spPr>
          <a:xfrm>
            <a:off x="522167" y="508780"/>
            <a:ext cx="4572000" cy="56169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9C0003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DAD76-985F-B931-404F-E4C25CA74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820" y="1164566"/>
            <a:ext cx="6994585" cy="467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D3C5-7439-DA92-F4DC-1B26C4227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>
            <a:extLst>
              <a:ext uri="{FF2B5EF4-FFF2-40B4-BE49-F238E27FC236}">
                <a16:creationId xmlns:a16="http://schemas.microsoft.com/office/drawing/2014/main" id="{41D9D203-6F95-4D43-B318-EEDA380F9B3B}"/>
              </a:ext>
            </a:extLst>
          </p:cNvPr>
          <p:cNvSpPr txBox="1"/>
          <p:nvPr/>
        </p:nvSpPr>
        <p:spPr>
          <a:xfrm>
            <a:off x="757642" y="745422"/>
            <a:ext cx="4572000" cy="5153783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 dirty="0">
                <a:solidFill>
                  <a:srgbClr val="9C0003"/>
                </a:solidFill>
                <a:latin typeface="Times New Roman"/>
                <a:cs typeface="Times New Roman"/>
              </a:rPr>
              <a:t>Dataset Construction</a:t>
            </a:r>
            <a:endParaRPr lang="en-US">
              <a:solidFill>
                <a:srgbClr val="9C0003"/>
              </a:solidFill>
            </a:endParaRPr>
          </a:p>
          <a:p>
            <a:pPr algn="just"/>
            <a:endParaRPr lang="en-US" sz="3200" b="1" dirty="0">
              <a:latin typeface="Times New Roman"/>
              <a:cs typeface="Times New Roman"/>
            </a:endParaRPr>
          </a:p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84 papers (2013–2023) extracted from Web of Science.</a:t>
            </a:r>
          </a:p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1210 adsorption data points.</a:t>
            </a:r>
          </a:p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Pollutants include: Pb²⁺, Cd²⁺, Zn²⁺, Cu²⁺, dyes (MB, </a:t>
            </a:r>
            <a:r>
              <a:rPr lang="en-US" sz="2000" err="1">
                <a:latin typeface="Times New Roman"/>
                <a:cs typeface="Times New Roman"/>
              </a:rPr>
              <a:t>RhB</a:t>
            </a:r>
            <a:r>
              <a:rPr lang="en-US" sz="2000" dirty="0">
                <a:latin typeface="Times New Roman"/>
                <a:cs typeface="Times New Roman"/>
              </a:rPr>
              <a:t>, CV), antibiotics, phenols.</a:t>
            </a:r>
          </a:p>
          <a:p>
            <a:pPr marL="171450" indent="-171450" algn="just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Data extracted directly from tables/figures; only unit conversion performed.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66E1F33-D373-E5E6-0A6A-3925ECA53DFA}"/>
              </a:ext>
            </a:extLst>
          </p:cNvPr>
          <p:cNvSpPr txBox="1"/>
          <p:nvPr/>
        </p:nvSpPr>
        <p:spPr>
          <a:xfrm>
            <a:off x="6862269" y="1145517"/>
            <a:ext cx="4572000" cy="4070345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dirty="0">
                <a:latin typeface="Times New Roman"/>
                <a:ea typeface="Google Sans Text"/>
                <a:cs typeface="Times New Roman"/>
              </a:rPr>
              <a:t>Input Variables</a:t>
            </a:r>
            <a:endParaRPr lang="en-US" sz="2000" dirty="0">
              <a:latin typeface="Times New Roman"/>
              <a:cs typeface="Times New Roman"/>
            </a:endParaRPr>
          </a:p>
          <a:p>
            <a:pPr algn="just"/>
            <a:endParaRPr lang="en-US" sz="2000" b="1" dirty="0">
              <a:latin typeface="Times New Roman"/>
              <a:ea typeface="Google Sans Text"/>
              <a:cs typeface="Times New Roman"/>
            </a:endParaRPr>
          </a:p>
          <a:p>
            <a:pPr marL="171450" lvl="1" indent="-171450" algn="just">
              <a:buFont typeface=""/>
              <a:buChar char="•"/>
            </a:pPr>
            <a:r>
              <a:rPr lang="en-US" sz="2000" b="1" dirty="0">
                <a:latin typeface="Times New Roman"/>
                <a:ea typeface="Google Sans Text"/>
                <a:cs typeface="Times New Roman"/>
              </a:rPr>
              <a:t>Material Properties:</a:t>
            </a:r>
            <a:r>
              <a:rPr lang="en-US" sz="2000" dirty="0">
                <a:latin typeface="Times New Roman"/>
                <a:ea typeface="Google Sans Text"/>
                <a:cs typeface="Times New Roman"/>
              </a:rPr>
              <a:t> Surface area, pore volume, cation exchange capacity (CEC), and surface functional groups.</a:t>
            </a:r>
          </a:p>
          <a:p>
            <a:pPr marL="171450" lvl="1" indent="-171450" algn="just">
              <a:buFont typeface=""/>
              <a:buChar char="•"/>
            </a:pPr>
            <a:r>
              <a:rPr lang="en-US" sz="2000" b="1" dirty="0">
                <a:latin typeface="Times New Roman"/>
                <a:ea typeface="Google Sans Text"/>
                <a:cs typeface="Times New Roman"/>
              </a:rPr>
              <a:t>Pollutant Characteristics:</a:t>
            </a:r>
            <a:r>
              <a:rPr lang="en-US" sz="2000" dirty="0">
                <a:latin typeface="Times New Roman"/>
                <a:ea typeface="Google Sans Text"/>
                <a:cs typeface="Times New Roman"/>
              </a:rPr>
              <a:t> Molecular weight, hydrophobicity, and functional groups.</a:t>
            </a:r>
          </a:p>
          <a:p>
            <a:pPr marL="171450" lvl="1" indent="-171450" algn="just">
              <a:buFont typeface=""/>
              <a:buChar char="•"/>
            </a:pPr>
            <a:r>
              <a:rPr lang="en-US" sz="2000" b="1" dirty="0">
                <a:latin typeface="Times New Roman"/>
                <a:ea typeface="Google Sans Text"/>
                <a:cs typeface="Times New Roman"/>
              </a:rPr>
              <a:t>Environmental Conditions:</a:t>
            </a:r>
            <a:r>
              <a:rPr lang="en-US" sz="2000" dirty="0">
                <a:latin typeface="Times New Roman"/>
                <a:ea typeface="Google Sans Text"/>
                <a:cs typeface="Times New Roman"/>
              </a:rPr>
              <a:t> pH, temperature, and initial concentration.</a:t>
            </a:r>
          </a:p>
          <a:p>
            <a:pPr marL="171450" indent="-171450" algn="just">
              <a:buFont typeface=""/>
              <a:buChar char="•"/>
            </a:pPr>
            <a:r>
              <a:rPr lang="en-US" sz="2000" b="1" dirty="0">
                <a:latin typeface="Times New Roman"/>
                <a:ea typeface="Google Sans Text"/>
                <a:cs typeface="Times New Roman"/>
              </a:rPr>
              <a:t>Target Variable:</a:t>
            </a:r>
            <a:r>
              <a:rPr lang="en-US" sz="2000" dirty="0">
                <a:latin typeface="Times New Roman"/>
                <a:ea typeface="Google Sans Text"/>
                <a:cs typeface="Times New Roman"/>
              </a:rPr>
              <a:t> Equilibrium adsorption capacity </a:t>
            </a:r>
          </a:p>
          <a:p>
            <a:pPr algn="just"/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3671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C006-270F-E653-6F06-EE186487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DFF2497E-FCA6-A0C5-967E-D6BEC48E7EE0}"/>
              </a:ext>
            </a:extLst>
          </p:cNvPr>
          <p:cNvSpPr txBox="1"/>
          <p:nvPr/>
        </p:nvSpPr>
        <p:spPr>
          <a:xfrm>
            <a:off x="552270" y="500692"/>
            <a:ext cx="7016150" cy="320087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9C0003"/>
                </a:solidFill>
                <a:latin typeface="Times New Roman"/>
                <a:cs typeface="Times New Roman"/>
              </a:rPr>
              <a:t>Data Preprocessing and Splitting</a:t>
            </a:r>
          </a:p>
          <a:p>
            <a:endParaRPr lang="en-US" sz="3200" b="1" dirty="0">
              <a:latin typeface="Times New Roman"/>
              <a:cs typeface="Times New Roman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Missing values imputed using </a:t>
            </a:r>
            <a:r>
              <a:rPr lang="en-US" sz="2000" b="1" dirty="0">
                <a:latin typeface="Times New Roman"/>
                <a:cs typeface="Times New Roman"/>
              </a:rPr>
              <a:t>KNN (k = 5)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Outliers removed or corrected manually.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Data split: </a:t>
            </a:r>
            <a:r>
              <a:rPr lang="en-US" sz="2000" b="1" dirty="0">
                <a:latin typeface="Times New Roman"/>
                <a:cs typeface="Times New Roman"/>
              </a:rPr>
              <a:t>70% training / 30% testing</a:t>
            </a:r>
            <a:r>
              <a:rPr lang="en-US" sz="2000" dirty="0">
                <a:latin typeface="Times New Roman"/>
                <a:cs typeface="Times New Roman"/>
              </a:rPr>
              <a:t> (best performance).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5‑fold cross‑validation for robustness.</a:t>
            </a:r>
          </a:p>
          <a:p>
            <a:pPr algn="ctr"/>
            <a:endParaRPr lang="en-US" dirty="0"/>
          </a:p>
        </p:txBody>
      </p:sp>
      <p:pic>
        <p:nvPicPr>
          <p:cNvPr id="146" name="Picture 145" descr="A diagram of a machine learning flowchart&#10;&#10;AI-generated content may be incorrect.">
            <a:extLst>
              <a:ext uri="{FF2B5EF4-FFF2-40B4-BE49-F238E27FC236}">
                <a16:creationId xmlns:a16="http://schemas.microsoft.com/office/drawing/2014/main" id="{526CF6CB-559D-67B2-BDC9-1A29D89227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90" r="48533" b="24274"/>
          <a:stretch>
            <a:fillRect/>
          </a:stretch>
        </p:blipFill>
        <p:spPr>
          <a:xfrm>
            <a:off x="6967267" y="189978"/>
            <a:ext cx="4441125" cy="574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81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87BEE-0A07-861E-67D3-890C9D1E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880AEDF-E1F9-14F9-C470-DA4426661111}"/>
              </a:ext>
            </a:extLst>
          </p:cNvPr>
          <p:cNvSpPr txBox="1"/>
          <p:nvPr/>
        </p:nvSpPr>
        <p:spPr>
          <a:xfrm>
            <a:off x="790934" y="295275"/>
            <a:ext cx="11602528" cy="110799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9C0003"/>
                </a:solidFill>
                <a:latin typeface="Times New Roman"/>
                <a:cs typeface="Times New Roman"/>
              </a:rPr>
              <a:t>Selection of ML Algorithms</a:t>
            </a:r>
            <a:endParaRPr lang="en-US" dirty="0">
              <a:solidFill>
                <a:srgbClr val="9C0003"/>
              </a:solidFill>
            </a:endParaRPr>
          </a:p>
          <a:p>
            <a:pPr algn="ctr"/>
            <a:endParaRPr lang="en-US">
              <a:latin typeface="Univers 67 CondensedBold"/>
              <a:cs typeface="Times New Roman"/>
            </a:endParaRPr>
          </a:p>
        </p:txBody>
      </p:sp>
      <p:pic>
        <p:nvPicPr>
          <p:cNvPr id="12" name="Picture 11" descr="ML model infographic 2 rows 3 columns">
            <a:extLst>
              <a:ext uri="{FF2B5EF4-FFF2-40B4-BE49-F238E27FC236}">
                <a16:creationId xmlns:a16="http://schemas.microsoft.com/office/drawing/2014/main" id="{B35D827B-BA58-722D-B8D9-2FFFF6A459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7" t="15464" r="5007" b="12820"/>
          <a:stretch>
            <a:fillRect/>
          </a:stretch>
        </p:blipFill>
        <p:spPr>
          <a:xfrm>
            <a:off x="1029420" y="996421"/>
            <a:ext cx="10032826" cy="534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0F65-9592-EEAE-11C0-50768154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54AB42-574E-CFE7-FE41-50A9CD080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24" y="204092"/>
            <a:ext cx="10506970" cy="5917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829657-BB21-DAC2-77CC-E411BA2F4FFE}"/>
              </a:ext>
            </a:extLst>
          </p:cNvPr>
          <p:cNvSpPr txBox="1"/>
          <p:nvPr/>
        </p:nvSpPr>
        <p:spPr>
          <a:xfrm>
            <a:off x="2214113" y="208472"/>
            <a:ext cx="1107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GBDT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E468A-F2F1-BA8D-FF8C-C1C806171BAF}"/>
              </a:ext>
            </a:extLst>
          </p:cNvPr>
          <p:cNvSpPr txBox="1"/>
          <p:nvPr/>
        </p:nvSpPr>
        <p:spPr>
          <a:xfrm>
            <a:off x="5837207" y="208471"/>
            <a:ext cx="1107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KNN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91519-C651-CF81-4969-53124A1D4CB5}"/>
              </a:ext>
            </a:extLst>
          </p:cNvPr>
          <p:cNvSpPr txBox="1"/>
          <p:nvPr/>
        </p:nvSpPr>
        <p:spPr>
          <a:xfrm>
            <a:off x="9489055" y="194093"/>
            <a:ext cx="1107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SVM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3AE08-F59D-CB54-26DC-E6C7F3312D57}"/>
              </a:ext>
            </a:extLst>
          </p:cNvPr>
          <p:cNvSpPr txBox="1"/>
          <p:nvPr/>
        </p:nvSpPr>
        <p:spPr>
          <a:xfrm>
            <a:off x="9474677" y="3270847"/>
            <a:ext cx="1107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RF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F3A1F-7866-32FB-7E62-468D377DE1F8}"/>
              </a:ext>
            </a:extLst>
          </p:cNvPr>
          <p:cNvSpPr txBox="1"/>
          <p:nvPr/>
        </p:nvSpPr>
        <p:spPr>
          <a:xfrm>
            <a:off x="5750941" y="3285223"/>
            <a:ext cx="1107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ANN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C8C506-88D0-580A-6B7B-DC6AA7313B38}"/>
              </a:ext>
            </a:extLst>
          </p:cNvPr>
          <p:cNvSpPr txBox="1"/>
          <p:nvPr/>
        </p:nvSpPr>
        <p:spPr>
          <a:xfrm>
            <a:off x="2214110" y="3400241"/>
            <a:ext cx="110705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DT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669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E369-B8F2-DD6A-059A-A1854F245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00C493AF-5C38-5B14-6FC0-CADF6016A69B}"/>
              </a:ext>
            </a:extLst>
          </p:cNvPr>
          <p:cNvSpPr txBox="1"/>
          <p:nvPr/>
        </p:nvSpPr>
        <p:spPr>
          <a:xfrm>
            <a:off x="457199" y="342900"/>
            <a:ext cx="7418536" cy="48320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9C0003"/>
                </a:solidFill>
                <a:latin typeface="Times New Roman"/>
                <a:cs typeface="Times New Roman"/>
              </a:rPr>
              <a:t>Machine Learning Workflow</a:t>
            </a:r>
          </a:p>
          <a:p>
            <a:endParaRPr lang="en-US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Models compared (Scikit‑Learn): GBDT, KNN, SVM, RF, DT, ANN. 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Metrics: R</a:t>
            </a:r>
            <a:r>
              <a:rPr lang="en-US" sz="2000" baseline="30000" dirty="0">
                <a:latin typeface="Times New Roman"/>
                <a:ea typeface="+mn-lt"/>
                <a:cs typeface="Times New Roman"/>
              </a:rPr>
              <a:t>2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, MSE, RMSE, MAPE on train and test. 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Best model: GBDT</a:t>
            </a:r>
            <a:endParaRPr lang="en-US" sz="200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Train: R</a:t>
            </a:r>
            <a:r>
              <a:rPr lang="en-US" sz="2000" baseline="30000" dirty="0">
                <a:latin typeface="Times New Roman"/>
                <a:ea typeface="+mn-lt"/>
                <a:cs typeface="Times New Roman"/>
              </a:rPr>
              <a:t>2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=0.97, RMSE ≈ 16.1, MAPE 14.9%. </a:t>
            </a:r>
            <a:endParaRPr lang="en-US" sz="2000" dirty="0">
              <a:latin typeface="Times New Roman"/>
              <a:cs typeface="Times New Roman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Test: R</a:t>
            </a:r>
            <a:r>
              <a:rPr lang="en-US" sz="2000" baseline="30000" dirty="0">
                <a:latin typeface="Times New Roman"/>
                <a:ea typeface="+mn-lt"/>
                <a:cs typeface="Times New Roman"/>
              </a:rPr>
              <a:t>2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=0.79, RMSE ≈ 31.2. 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Interpretation: ensemble tree methods capture nonlinear relationships between environment, composition, and capacity. </a:t>
            </a:r>
          </a:p>
          <a:p>
            <a:endParaRPr lang="en-US" b="1" dirty="0">
              <a:ea typeface="Calibri"/>
              <a:cs typeface="Calibri"/>
            </a:endParaRPr>
          </a:p>
        </p:txBody>
      </p:sp>
      <p:pic>
        <p:nvPicPr>
          <p:cNvPr id="3" name="Picture 2" descr="A diagram of a machine learning flowchart&#10;&#10;AI-generated content may be incorrect.">
            <a:extLst>
              <a:ext uri="{FF2B5EF4-FFF2-40B4-BE49-F238E27FC236}">
                <a16:creationId xmlns:a16="http://schemas.microsoft.com/office/drawing/2014/main" id="{486A090D-79AB-F0E0-8289-162A1E7CE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91" t="10488" b="67331"/>
          <a:stretch>
            <a:fillRect/>
          </a:stretch>
        </p:blipFill>
        <p:spPr>
          <a:xfrm>
            <a:off x="8824642" y="168411"/>
            <a:ext cx="2762383" cy="1767752"/>
          </a:xfrm>
          <a:prstGeom prst="rect">
            <a:avLst/>
          </a:prstGeom>
        </p:spPr>
      </p:pic>
      <p:pic>
        <p:nvPicPr>
          <p:cNvPr id="4" name="Picture 3" descr="A diagram of a machine learning flowchart&#10;&#10;AI-generated content may be incorrect.">
            <a:extLst>
              <a:ext uri="{FF2B5EF4-FFF2-40B4-BE49-F238E27FC236}">
                <a16:creationId xmlns:a16="http://schemas.microsoft.com/office/drawing/2014/main" id="{006B9B1A-5D5D-3695-FD45-A6D9437572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91" t="32550" b="46112"/>
          <a:stretch>
            <a:fillRect/>
          </a:stretch>
        </p:blipFill>
        <p:spPr>
          <a:xfrm>
            <a:off x="8824641" y="2368146"/>
            <a:ext cx="2762383" cy="1700585"/>
          </a:xfrm>
          <a:prstGeom prst="rect">
            <a:avLst/>
          </a:prstGeom>
        </p:spPr>
      </p:pic>
      <p:pic>
        <p:nvPicPr>
          <p:cNvPr id="5" name="Picture 4" descr="A diagram of a machine learning flowchart&#10;&#10;AI-generated content may be incorrect.">
            <a:extLst>
              <a:ext uri="{FF2B5EF4-FFF2-40B4-BE49-F238E27FC236}">
                <a16:creationId xmlns:a16="http://schemas.microsoft.com/office/drawing/2014/main" id="{9428EB34-9681-0299-BDF9-4D740FDCE9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27" t="53707" b="24231"/>
          <a:stretch>
            <a:fillRect/>
          </a:stretch>
        </p:blipFill>
        <p:spPr>
          <a:xfrm>
            <a:off x="8824641" y="4495995"/>
            <a:ext cx="2767415" cy="175823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C9E7DA-9BF9-9887-A612-DB47FAEDDA4E}"/>
              </a:ext>
            </a:extLst>
          </p:cNvPr>
          <p:cNvCxnSpPr/>
          <p:nvPr/>
        </p:nvCxnSpPr>
        <p:spPr bwMode="auto">
          <a:xfrm flipH="1">
            <a:off x="10272922" y="1933575"/>
            <a:ext cx="2396" cy="42844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81F022-5FC7-BAFC-6D06-F58EA9E77953}"/>
              </a:ext>
            </a:extLst>
          </p:cNvPr>
          <p:cNvCxnSpPr>
            <a:cxnSpLocks/>
          </p:cNvCxnSpPr>
          <p:nvPr/>
        </p:nvCxnSpPr>
        <p:spPr bwMode="auto">
          <a:xfrm flipH="1">
            <a:off x="10260222" y="4067175"/>
            <a:ext cx="2396" cy="42844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33881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55DC1-070C-0619-4A57-3D5B9C3F0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CA11AD0-C214-94B4-7CB5-ADF82B3EB516}"/>
              </a:ext>
            </a:extLst>
          </p:cNvPr>
          <p:cNvSpPr txBox="1"/>
          <p:nvPr/>
        </p:nvSpPr>
        <p:spPr>
          <a:xfrm>
            <a:off x="699099" y="642848"/>
            <a:ext cx="4802037" cy="390876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 dirty="0">
                <a:solidFill>
                  <a:srgbClr val="9C0003"/>
                </a:solidFill>
                <a:latin typeface="Times New Roman"/>
                <a:cs typeface="Times New Roman"/>
              </a:rPr>
              <a:t>Key ML Findings</a:t>
            </a:r>
          </a:p>
          <a:p>
            <a:pPr marL="228600" indent="-228600" algn="just">
              <a:buFont typeface=""/>
              <a:buChar char="•"/>
            </a:pPr>
            <a:endParaRPr lang="en-US" dirty="0"/>
          </a:p>
          <a:p>
            <a:pPr marL="228600" indent="-228600" algn="just"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Adsorption is strongly governed by solution chemistry (pH) </a:t>
            </a:r>
          </a:p>
          <a:p>
            <a:pPr marL="228600" indent="-228600" algn="just"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Pollutant molecular size (</a:t>
            </a:r>
            <a:r>
              <a:rPr lang="en-US" sz="2000" dirty="0" err="1">
                <a:latin typeface="Times New Roman"/>
                <a:cs typeface="Times New Roman"/>
              </a:rPr>
              <a:t>Rmm</a:t>
            </a:r>
            <a:r>
              <a:rPr lang="en-US" sz="2000" dirty="0">
                <a:latin typeface="Times New Roman"/>
                <a:cs typeface="Times New Roman"/>
              </a:rPr>
              <a:t>) plays a major role.</a:t>
            </a:r>
          </a:p>
          <a:p>
            <a:pPr marL="228600" indent="-228600" algn="just"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Material surface composition (O, C).</a:t>
            </a:r>
          </a:p>
          <a:p>
            <a:pPr marL="228600" indent="-228600" algn="just"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Preparation conditions (Pte) significantly influence surface structure.</a:t>
            </a:r>
          </a:p>
          <a:p>
            <a:pPr marL="228600" indent="-228600" algn="just"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ML reveals nonlinear interactions not visible through simple correlations.</a:t>
            </a:r>
          </a:p>
          <a:p>
            <a:pPr algn="just"/>
            <a:endParaRPr lang="en-US" dirty="0"/>
          </a:p>
        </p:txBody>
      </p:sp>
      <p:pic>
        <p:nvPicPr>
          <p:cNvPr id="4" name="Picture 3" descr="A graph of a graph with red and blue dots&#10;&#10;AI-generated content may be incorrect.">
            <a:extLst>
              <a:ext uri="{FF2B5EF4-FFF2-40B4-BE49-F238E27FC236}">
                <a16:creationId xmlns:a16="http://schemas.microsoft.com/office/drawing/2014/main" id="{5114C14C-C63A-537F-C8DF-0CE0ECF5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314" y="278202"/>
            <a:ext cx="6679901" cy="5180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E41C68-39B5-19E8-F888-8F7A3F817E1B}"/>
              </a:ext>
            </a:extLst>
          </p:cNvPr>
          <p:cNvSpPr txBox="1"/>
          <p:nvPr/>
        </p:nvSpPr>
        <p:spPr>
          <a:xfrm>
            <a:off x="6613585" y="5470585"/>
            <a:ext cx="42700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"/>
                <a:cs typeface="Times"/>
              </a:rPr>
              <a:t>Fig.: Feature importance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472212-1702-1739-F599-F49C8D311ADD}"/>
              </a:ext>
            </a:extLst>
          </p:cNvPr>
          <p:cNvSpPr txBox="1"/>
          <p:nvPr/>
        </p:nvSpPr>
        <p:spPr>
          <a:xfrm>
            <a:off x="517585" y="5930661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latin typeface="Times"/>
                <a:cs typeface="Times"/>
              </a:rPr>
              <a:t>*SHAP →</a:t>
            </a:r>
            <a:r>
              <a:rPr lang="en-US" sz="1600" i="1" err="1">
                <a:latin typeface="Times"/>
                <a:cs typeface="Times"/>
              </a:rPr>
              <a:t>SHapley</a:t>
            </a:r>
            <a:r>
              <a:rPr lang="en-US" sz="1600" i="1" dirty="0">
                <a:latin typeface="Times"/>
                <a:cs typeface="Times"/>
              </a:rPr>
              <a:t> Additive </a:t>
            </a:r>
            <a:r>
              <a:rPr lang="en-US" sz="1600" i="1" err="1">
                <a:latin typeface="Times"/>
                <a:cs typeface="Times"/>
              </a:rPr>
              <a:t>exPlanations</a:t>
            </a:r>
            <a:endParaRPr lang="en-US" sz="1600" i="1" err="1"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1225140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118CA-DFEF-ED1D-9769-0898C1EF3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9342F28-ACA1-AC0B-02A5-6D5B4D4F1082}"/>
              </a:ext>
            </a:extLst>
          </p:cNvPr>
          <p:cNvSpPr txBox="1"/>
          <p:nvPr/>
        </p:nvSpPr>
        <p:spPr>
          <a:xfrm>
            <a:off x="687554" y="642848"/>
            <a:ext cx="6432543" cy="209288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 dirty="0">
                <a:solidFill>
                  <a:srgbClr val="9C000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DFT Findings</a:t>
            </a:r>
            <a:endParaRPr lang="en-US" dirty="0">
              <a:solidFill>
                <a:srgbClr val="9C000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Font typeface="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Adsorption and removal of Sulfamethoxazole (SMZ) by montmorillonite studied under different pH conditions.</a:t>
            </a:r>
          </a:p>
          <a:p>
            <a:pPr marL="228600" indent="-228600" algn="just">
              <a:buFont typeface="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With deprotonation, positive charge decreased carried by SMZ molecules.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2AB9A-7D79-26DD-1AE1-F1840ABA46F5}"/>
              </a:ext>
            </a:extLst>
          </p:cNvPr>
          <p:cNvSpPr txBox="1"/>
          <p:nvPr/>
        </p:nvSpPr>
        <p:spPr>
          <a:xfrm>
            <a:off x="7086600" y="5484962"/>
            <a:ext cx="598960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"/>
                <a:cs typeface="Times"/>
              </a:rPr>
              <a:t>Fig.: Geometry of montmorillonite and SMZ</a:t>
            </a:r>
          </a:p>
        </p:txBody>
      </p:sp>
      <p:pic>
        <p:nvPicPr>
          <p:cNvPr id="8" name="Picture 7" descr="A collage of different molecules&#10;&#10;AI-generated content may be incorrect.">
            <a:extLst>
              <a:ext uri="{FF2B5EF4-FFF2-40B4-BE49-F238E27FC236}">
                <a16:creationId xmlns:a16="http://schemas.microsoft.com/office/drawing/2014/main" id="{6D04FD47-3D70-647C-3AC2-49B8995E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" t="1693" r="63616" b="39845"/>
          <a:stretch>
            <a:fillRect/>
          </a:stretch>
        </p:blipFill>
        <p:spPr>
          <a:xfrm>
            <a:off x="7252796" y="533694"/>
            <a:ext cx="4554474" cy="49491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FF7B60-2F1F-FBBE-163A-04C5AAE1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21" y="2828026"/>
            <a:ext cx="4567148" cy="29631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A240-3D76-6385-3A92-28B4953B2D21}"/>
              </a:ext>
            </a:extLst>
          </p:cNvPr>
          <p:cNvSpPr txBox="1"/>
          <p:nvPr/>
        </p:nvSpPr>
        <p:spPr>
          <a:xfrm>
            <a:off x="1143000" y="5695890"/>
            <a:ext cx="484169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"/>
                <a:cs typeface="Times"/>
              </a:rPr>
              <a:t>Fig.: Adsorption Energy with deprotonation</a:t>
            </a:r>
          </a:p>
        </p:txBody>
      </p:sp>
    </p:spTree>
    <p:extLst>
      <p:ext uri="{BB962C8B-B14F-4D97-AF65-F5344CB8AC3E}">
        <p14:creationId xmlns:p14="http://schemas.microsoft.com/office/powerpoint/2010/main" val="4129227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8698-5D4B-2EA1-1759-0E5E7EA3A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295BB5-F6D8-28DC-B1B0-8498B5C838F8}"/>
              </a:ext>
            </a:extLst>
          </p:cNvPr>
          <p:cNvSpPr txBox="1"/>
          <p:nvPr/>
        </p:nvSpPr>
        <p:spPr>
          <a:xfrm>
            <a:off x="682026" y="938123"/>
            <a:ext cx="9599402" cy="31700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>
                <a:solidFill>
                  <a:srgbClr val="9C0003"/>
                </a:solidFill>
                <a:latin typeface="Times New Roman"/>
                <a:cs typeface="Times New Roman"/>
              </a:rPr>
              <a:t>Conclusion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Built a robust ML framework using 1210 data points.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GBDT achieved the best predictive performance.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pH, Pte, O, </a:t>
            </a:r>
            <a:r>
              <a:rPr lang="en-US" sz="2000" err="1">
                <a:latin typeface="Times New Roman"/>
                <a:cs typeface="Times New Roman"/>
              </a:rPr>
              <a:t>Rmm</a:t>
            </a:r>
            <a:r>
              <a:rPr lang="en-US" sz="2000" dirty="0">
                <a:latin typeface="Times New Roman"/>
                <a:cs typeface="Times New Roman"/>
              </a:rPr>
              <a:t>, and C are the dominant factors.</a:t>
            </a:r>
          </a:p>
          <a:p>
            <a:pPr marL="228600" indent="-228600">
              <a:lnSpc>
                <a:spcPct val="150000"/>
              </a:lnSpc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ML + DFT provides a powerful hybrid approach for adsorption research.</a:t>
            </a:r>
          </a:p>
          <a:p>
            <a:pPr algn="ctr"/>
            <a:endParaRPr lang="en-US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6768E1FA-984F-9C84-6A7B-FEBD1D38B19F}"/>
              </a:ext>
            </a:extLst>
          </p:cNvPr>
          <p:cNvSpPr txBox="1"/>
          <p:nvPr/>
        </p:nvSpPr>
        <p:spPr>
          <a:xfrm>
            <a:off x="522170" y="5840669"/>
            <a:ext cx="6150769" cy="276999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dirty="0">
                <a:solidFill>
                  <a:srgbClr val="222222"/>
                </a:solidFill>
                <a:latin typeface="Times New Roman"/>
                <a:ea typeface="Arial"/>
                <a:cs typeface="Times New Roman"/>
              </a:rPr>
              <a:t>Zhao, C., et al. </a:t>
            </a:r>
            <a:r>
              <a:rPr lang="en-US" sz="1350" i="1" dirty="0">
                <a:solidFill>
                  <a:srgbClr val="222222"/>
                </a:solidFill>
                <a:latin typeface="Times New Roman"/>
                <a:ea typeface="Arial"/>
                <a:cs typeface="Times New Roman"/>
              </a:rPr>
              <a:t>Separation and Purification Technology</a:t>
            </a:r>
            <a:r>
              <a:rPr lang="en-US" sz="1350" dirty="0">
                <a:solidFill>
                  <a:srgbClr val="222222"/>
                </a:solidFill>
                <a:latin typeface="Times New Roman"/>
                <a:ea typeface="Arial"/>
                <a:cs typeface="Times New Roman"/>
              </a:rPr>
              <a:t> 331 (2024): 125706.</a:t>
            </a:r>
            <a:endParaRPr lang="en-US" sz="135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2432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4AA13E-BD06-BAC5-99D2-9EB6BFDF0A74}"/>
              </a:ext>
            </a:extLst>
          </p:cNvPr>
          <p:cNvSpPr txBox="1"/>
          <p:nvPr/>
        </p:nvSpPr>
        <p:spPr>
          <a:xfrm>
            <a:off x="4564094" y="2450150"/>
            <a:ext cx="306182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dirty="0">
                <a:solidFill>
                  <a:srgbClr val="9C0003"/>
                </a:solidFill>
                <a:latin typeface="Times New Roman"/>
                <a:cs typeface="Times New Roman"/>
              </a:rPr>
              <a:t>Thank You </a:t>
            </a:r>
            <a:endParaRPr lang="en-US" sz="4800">
              <a:solidFill>
                <a:srgbClr val="9C0003"/>
              </a:solidFill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680669648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Univers 67 CondensedBold"/>
        <a:ea typeface=""/>
        <a:cs typeface=""/>
      </a:majorFont>
      <a:minorFont>
        <a:latin typeface="Univers 67 Condensed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-WithNumbers_2A" id="{26A4DF8B-2ED5-1147-8FA3-787E008C2CE2}" vid="{8D23465F-27DC-C24E-BABD-4541439876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C32B53B0261140A8B3A1C52BFA2439" ma:contentTypeVersion="14" ma:contentTypeDescription="Create a new document." ma:contentTypeScope="" ma:versionID="46dd4ade5c833ab9084c392cb0862bb1">
  <xsd:schema xmlns:xsd="http://www.w3.org/2001/XMLSchema" xmlns:xs="http://www.w3.org/2001/XMLSchema" xmlns:p="http://schemas.microsoft.com/office/2006/metadata/properties" xmlns:ns3="8419a4a4-5aa7-47f8-ac61-0bc997bfc643" xmlns:ns4="8f1f30a0-3d56-422f-b7e3-2684ed309978" targetNamespace="http://schemas.microsoft.com/office/2006/metadata/properties" ma:root="true" ma:fieldsID="52939615a062aa71d45db7481f33fa51" ns3:_="" ns4:_="">
    <xsd:import namespace="8419a4a4-5aa7-47f8-ac61-0bc997bfc643"/>
    <xsd:import namespace="8f1f30a0-3d56-422f-b7e3-2684ed30997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9a4a4-5aa7-47f8-ac61-0bc997bfc64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f30a0-3d56-422f-b7e3-2684ed30997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19a4a4-5aa7-47f8-ac61-0bc997bfc64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7528A6-3DD5-4002-AEC1-4181DA9677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19a4a4-5aa7-47f8-ac61-0bc997bfc643"/>
    <ds:schemaRef ds:uri="8f1f30a0-3d56-422f-b7e3-2684ed3099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C0130B-8748-4B0E-9772-F46DD69DA10E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dcmitype/"/>
    <ds:schemaRef ds:uri="http://purl.org/dc/elements/1.1/"/>
    <ds:schemaRef ds:uri="8f1f30a0-3d56-422f-b7e3-2684ed309978"/>
    <ds:schemaRef ds:uri="http://schemas.openxmlformats.org/package/2006/metadata/core-properties"/>
    <ds:schemaRef ds:uri="8419a4a4-5aa7-47f8-ac61-0bc997bfc643"/>
  </ds:schemaRefs>
</ds:datastoreItem>
</file>

<file path=customXml/itemProps3.xml><?xml version="1.0" encoding="utf-8"?>
<ds:datastoreItem xmlns:ds="http://schemas.openxmlformats.org/officeDocument/2006/customXml" ds:itemID="{EB7C1980-B058-4086-94A9-7988FBD3F2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Presentation-WithNumbers_2A</Template>
  <TotalTime>2440</TotalTime>
  <Words>601</Words>
  <Application>Microsoft Office PowerPoint</Application>
  <PresentationFormat>Widescreen</PresentationFormat>
  <Paragraphs>73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Arial,Sans-Serif</vt:lpstr>
      <vt:lpstr>Calibri</vt:lpstr>
      <vt:lpstr>Times</vt:lpstr>
      <vt:lpstr>Times New Roman</vt:lpstr>
      <vt:lpstr>Univers 67 CondensedBold</vt:lpstr>
      <vt:lpstr>Univers 75 Black</vt:lpstr>
      <vt:lpstr>PowerPoint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Iowa State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Olson, Clarissa M [M S E]</dc:creator>
  <cp:lastModifiedBy>Ahmed, Tanvir</cp:lastModifiedBy>
  <cp:revision>594</cp:revision>
  <dcterms:created xsi:type="dcterms:W3CDTF">2024-12-06T20:45:55Z</dcterms:created>
  <dcterms:modified xsi:type="dcterms:W3CDTF">2026-03-30T12:34:33Z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0x0101000BC32B53B0261140A8B3A1C52BFA2439</vt:lpwstr>
  </property>
</Properties>
</file>